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~70–75 min total. Spine: humans have always been problem-solvers; AI is the newest chapter; the problems still unsolved are Shreya's to solve.</a:t>
            </a:r>
          </a:p>
          <a:p/>
          <a:p>
            <a:r>
              <a:t>Arc: wow → her wishes → backwards walk → break → what AI solves now → why copy humans → what AI still can't do → why bother learning → journal.</a:t>
            </a:r>
          </a:p>
          <a:p/>
          <a:p>
            <a:r>
              <a:t>Close on the unanswered question — DO NOT answer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by SHOWING, not defining. Roll a short WOW REEL of AI doing things humans do. Waymo is the primary clip; have 2–3 backups queued. Keep it short. Let the room react before you say anything analytical.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Land the definition: 'AI is when we build machines that mimic things humans normally do with their minds and senses — seeing, understanding language, deciding, creating.'</a:t>
            </a:r>
          </a:p>
          <a:p/>
          <a:p>
            <a:r>
              <a:t>For parents: deliberately broad and behavior-based. No single agreed technical definition — and that's part of the story.</a:t>
            </a:r>
          </a:p>
          <a:p/>
          <a:p>
            <a:r>
              <a:t>Quick milestone highlights (sidebar):</a:t>
            </a:r>
          </a:p>
          <a:p>
            <a:r>
              <a:t>  • CHESS: Deep Blue beat Kasparov, 1997.</a:t>
            </a:r>
          </a:p>
          <a:p>
            <a:r>
              <a:t>  • GO: AlphaGo beat Lee Sedol, 2016. Move 37.</a:t>
            </a:r>
          </a:p>
          <a:p>
            <a:r>
              <a:t>  • MATH: 2024 Google AI → silver-medal STANDARD at the IMO (28/42). 2025 Gemini Deep Think → gold-medal STANDARD (35/42), officially graded.</a:t>
            </a:r>
          </a:p>
          <a:p/>
          <a:p>
            <a:r>
              <a:t>HONESTY NOTE: say 'gold-medal STANDARD,' NEVER 'won gold' — the AI was not an official IMO contestant.</a:t>
            </a:r>
          </a:p>
          <a:p/>
          <a:p>
            <a:r>
              <a:t>Let ONE provocation hang: 'If AI can do ALL this… what are humans even for?'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Interactive — NO video. Make it personal and instant.</a:t>
            </a:r>
          </a:p>
          <a:p/>
          <a:p>
            <a:r>
              <a:t>Ask: 'What's something you HAVE to do but wish you didn't?' She might say cleaning her room, folding laundry, practicing scales, homework. Write each answer on a physical card. Keep them visible all session.</a:t>
            </a:r>
          </a:p>
          <a:p/>
          <a:p>
            <a:r>
              <a:t>Optional follow-up (quietly seeds the whales in Beat 4): 'What's something you WISH you could do but can't?' — talking to animals, flying, being in two places at once.</a:t>
            </a:r>
          </a:p>
          <a:p/>
          <a:p>
            <a:r>
              <a:t>BRIDGE: every tool humans ever built started exactly here — someone wishing a hard thing were easier. That's the doorway into the backwards walk.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Shreya video-calls family in Kolkata and Seattle. Ordinary. Sixty years ago — wild future. The story of every tool: yesterday's magic → today's normal.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Bell, 1876. First time a voice could leave a body and travel.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sound, frozen and replayable. The first 'pause / rewind' button in human history.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moment, kept by anyone — not just the wealthy.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Mass literacy. The world opens.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time a thought could leave a brain and survive.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story starts here. The original tool.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MOST PERSONAL stop. PLANT THE SEED — don't resolve it (Beat 7 is the payoff): times tables and the number line aren't only facts; they're THINKING-TOOLS. When you learn them, you install a tool INSIDE your own head that lets you see patterns and catch wrong answers.</a:t>
            </a:r>
          </a:p>
          <a:p/>
          <a:p>
            <a:r>
              <a:t>Background (presenter): Judy Fan's 'cognitive tools' idea. Shreya already uses one every week — written music notation captures sound that vanishes the instant it's made, and holds it still so she can think about it, share it, improve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Project CETI uses AI to decode sperm whale clicks. Researchers have found what they BELIEVE is a phonetic alphabet, and even vowel-like sounds similar to human speech.</a:t>
            </a:r>
          </a:p>
          <a:p/>
          <a:p>
            <a:r>
              <a:t>HONESTY HEDGE: we CANNOT talk to whales yet — we're just BEGINNING to understand them. That gap is what makes it thrilling.</a:t>
            </a:r>
          </a:p>
          <a:p/>
          <a:p>
            <a:r>
              <a:t>CALLBACK to Beat 2's 'what do you wish you could do?' — if she said 'talk to animals,' this is the payoff.</a:t>
            </a:r>
          </a:p>
          <a:p/>
          <a:p>
            <a:r>
              <a:t>Sources: Project CETI; MIT CSAIL / Nature Communications (2024); Harvard SEAS (2025).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glasses let a blind person ask 'describe what's in front of me' — the AI reads menus, identifies objects and colors, or connects them to a human volunteer (Be My Eyes) who sees through the camera and helps in real time.</a:t>
            </a:r>
          </a:p>
          <a:p/>
          <a:p>
            <a:r>
              <a:t>HONEST + FUNNY HEDGE: a blind user held up noodles, asked the glasses what they were, and the AI confidently answered 'LASAGNA.' Solves a real problem AND still gets things wrong — perfect for a 10-year-old to see.</a:t>
            </a:r>
          </a:p>
          <a:p/>
          <a:p>
            <a:r>
              <a:t>Sources: Meta / Be My Eyes (2025); Consumer Reports; CBC (2025).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Johns Hopkins SRT-H learned to perform part of a gallbladder operation by WATCHING videos of surgeons, then carried it out and adapted in real time.</a:t>
            </a:r>
          </a:p>
          <a:p/>
          <a:p>
            <a:r>
              <a:t>CRUCIAL HEDGE: it was done on a LIFELIKE MODEL, not a living person. Frame as 'helping doctors,' NOT replacing them.</a:t>
            </a:r>
          </a:p>
          <a:p/>
          <a:p>
            <a:r>
              <a:t>Source: Johns Hopkins / Science Robotics, July 2025.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First answer to the provocation: EXPERIENCES.</a:t>
            </a:r>
          </a:p>
          <a:p/>
          <a:p>
            <a:r>
              <a:t>AI can DESCRIBE every one of these. It can never HAVE them.</a:t>
            </a:r>
          </a:p>
          <a:p/>
          <a:p>
            <a:r>
              <a:t>Ask Shreya: name one feeling AI could never feel.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mimic HUMANS, and not something else? Because the best learners and problem-solvers we know are human — and ESPECIALLY CHILDREN.</a:t>
            </a:r>
          </a:p>
          <a:p/>
          <a:p>
            <a:r>
              <a:t>Alison Gopnik calls children 'the best learning machines in the universe.' Kids are EXPLORERS — they experiment, ask why, try wild ideas ('explore' mode). Adults narrow into 'exploit' mode. She describes a child's attention as a broad LANTERN that lights up everything; an adult's is a narrow SPOTLIGHT.</a:t>
            </a:r>
          </a:p>
          <a:p/>
          <a:p>
            <a:r>
              <a:t>Make the implicit point land: curiosity isn't a phase to grow out of — it's Shreya's SUPERPOWER, and it's what AI is trying to copy TOWARD, not away from.</a:t>
            </a:r>
          </a:p>
          <a:p/>
          <a:p>
            <a:r>
              <a:t>Bonus (Gopnik 2025): today's AI models are 'cultural technologies' like the printing press or libraries — powerful ways to pass on what humans already know — NOT curious minds like a child.</a:t>
            </a:r>
          </a:p>
          <a:p/>
          <a:p>
            <a:r>
              <a:t>Sources: Gopnik, 'The Philosophical Baby'; 'Large AI models are cultural and social technologies,' Science (2025); Berkeley talks (2025–26).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Beat 5 with the question Shreya gets to keep. Collect answers from her AND the parents (especially fun with two PhD parents — they'll disagree, and that's the point). Write them on cards. Leave it open.</a:t>
            </a:r>
          </a:p>
          <a:p/>
          <a:p>
            <a:r>
              <a:t>'Even the experts argue about this.' Leaving it unresolved is the design, not a gap.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Ground the hope in real 2026 limits:</a:t>
            </a:r>
          </a:p>
          <a:p>
            <a:r>
              <a:t>  • Weave 'Isaac 0' laundry robot — ~$8K, STILL needs a human to remote-fix tricky folds.</a:t>
            </a:r>
          </a:p>
          <a:p>
            <a:r>
              <a:t>  • 1X 'NEO' home robot — leans on remote helpers for tasks it doesn't know.</a:t>
            </a:r>
          </a:p>
          <a:p/>
          <a:p>
            <a:r>
              <a:t>From the scientists:</a:t>
            </a:r>
          </a:p>
          <a:p>
            <a:r>
              <a:t>  • AI doesn't keep learning after it's built the way a kid does.</a:t>
            </a:r>
          </a:p>
          <a:p>
            <a:r>
              <a:t>  • It doesn't know what anything FEELS like.</a:t>
            </a:r>
          </a:p>
          <a:p>
            <a:r>
              <a:t>  • It lacks real common sense about the physical world.</a:t>
            </a:r>
          </a:p>
          <a:p/>
          <a:p>
            <a:r>
              <a:t>(Sources: LeCun–Malik–Dupoux 2026; Surya Ganguli, Daedalus 2026.)</a:t>
            </a:r>
          </a:p>
          <a:p/>
          <a:p>
            <a:r>
              <a:t>★ CALLBACK to Beat 2 — pick up her cards: 'Remember what you wished you didn't have to do — clean your room, fold the laundry? The most advanced robot on Earth STILL can't reliably do it. THAT PROBLEM IS YOURS.'</a:t>
            </a:r>
          </a:p>
          <a:p/>
          <a:p>
            <a:r>
              <a:t>Frame as INVITATION: so much is wide open for HER generation.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Plant the question UNANSWERED. She answers it on demo day. Hand her two keys to think with, as a MATCHED PAIR — let HER connect them to AI.</a:t>
            </a:r>
          </a:p>
          <a:p/>
          <a:p>
            <a:r>
              <a:t>KEY 1 — CALCULATOR: 'We've had calculators for 50 years — they're in every phone. So why are you still learning your times tables?' → because the knowledge becomes a tool INSIDE YOUR OWN HEAD.</a:t>
            </a:r>
          </a:p>
          <a:p/>
          <a:p>
            <a:r>
              <a:t>KEY 2 — CAR &amp; EXERCISE: 'We've had cars for 100 years. Did we stop walking and running?' → no, because moving your body is good for YOU, however you get around. Honest wrinkle that makes it stronger: the car made it POSSIBLE to stop moving, so now we exercise on purpose. AI is the same for thinking — it makes it possible to stop, so learning becomes something we choose on purpose, because we know it's good for us.</a:t>
            </a:r>
          </a:p>
          <a:p/>
          <a:p>
            <a:r>
              <a:t>THE TURN: 'So — AI can write and draw and do math. What does that mean for learning to think?' Let her sit with it. Sign and date the question card with her; photograph it for page 1 of the exhibition site.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the journal. Three in each column, in HER words. The 'automate' column will naturally echo the Beat 2 cards.</a:t>
            </a:r>
          </a:p>
          <a:p/>
          <a:p>
            <a:r>
              <a:t>Photograph the page → Page 1 of the live exhibition site.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9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CCC8C2"/>
                </a:solidFill>
                <a:latin typeface="Helvetica Neue"/>
              </a:rPr>
              <a:t>INTRO TO AI  ·  SESSION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194560"/>
            <a:ext cx="11064240" cy="2194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0" b="0" i="0">
                <a:solidFill>
                  <a:srgbClr val="F8F6F2"/>
                </a:solidFill>
                <a:latin typeface="Georgia"/>
              </a:rPr>
              <a:t>What even is AI?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12064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0" i="0">
                <a:solidFill>
                  <a:srgbClr val="CCC8C2"/>
                </a:solidFill>
                <a:latin typeface="Helvetica Neue"/>
              </a:rPr>
              <a:t>Tue, June 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9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6424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0" i="0">
                <a:solidFill>
                  <a:srgbClr val="F8F6F2"/>
                </a:solidFill>
                <a:latin typeface="Georgia"/>
              </a:rPr>
              <a:t>What can AI do right now?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7680960" cy="4206240"/>
          </a:xfrm>
          <a:prstGeom prst="roundRect">
            <a:avLst>
              <a:gd name="adj" fmla="val 2500"/>
            </a:avLst>
          </a:prstGeom>
          <a:solidFill>
            <a:srgbClr val="2A2825"/>
          </a:solidFill>
          <a:ln w="19050">
            <a:solidFill>
              <a:srgbClr val="9B8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0" rIns="381000" tIns="254000" bIns="254000"/>
          <a:lstStyle/>
          <a:p>
            <a:pPr algn="ctr"/>
            <a:r>
              <a:rPr sz="6400">
                <a:solidFill>
                  <a:srgbClr val="9B8FE8"/>
                </a:solidFill>
                <a:latin typeface="Helvetica Neue"/>
              </a:rPr>
              <a:t>▶</a:t>
            </a:r>
          </a:p>
          <a:p>
            <a:pPr algn="ctr">
              <a:spcBef>
                <a:spcPts val="800"/>
              </a:spcBef>
            </a:pPr>
            <a:r>
              <a:rPr sz="2200">
                <a:solidFill>
                  <a:srgbClr val="F8F6F2"/>
                </a:solidFill>
                <a:latin typeface="Georgia"/>
              </a:rPr>
              <a:t>A self-driving Waymo, on a regular street</a:t>
            </a:r>
          </a:p>
          <a:p>
            <a:pPr algn="ctr">
              <a:spcBef>
                <a:spcPts val="1200"/>
              </a:spcBef>
            </a:pPr>
            <a:r>
              <a:rPr sz="1200" i="1">
                <a:solidFill>
                  <a:srgbClr val="A8A39E"/>
                </a:solidFill>
                <a:latin typeface="Helvetica Neue"/>
              </a:rPr>
              <a:t>YouTube search: “Waymo driverless car ride POV 2025”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828800"/>
            <a:ext cx="3246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9B8FE8"/>
                </a:solidFill>
                <a:latin typeface="Helvetica Neue"/>
              </a:rPr>
              <a:t>WHAT YOU MIGHT CUE UP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0" y="2240280"/>
            <a:ext cx="548640" cy="22860"/>
          </a:xfrm>
          <a:prstGeom prst="rect">
            <a:avLst/>
          </a:prstGeom>
          <a:solidFill>
            <a:srgbClr val="9B8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0" y="2423160"/>
            <a:ext cx="3246120" cy="3611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>
                <a:solidFill>
                  <a:srgbClr val="F8F6F2"/>
                </a:solidFill>
                <a:latin typeface="Helvetica Neue"/>
              </a:rPr>
              <a:t>•  Waymo driving itself.</a:t>
            </a:r>
          </a:p>
          <a:p>
            <a:pPr algn="l">
              <a:spcAft>
                <a:spcPts val="1000"/>
              </a:spcAft>
            </a:pPr>
            <a:r>
              <a:rPr sz="1300">
                <a:solidFill>
                  <a:srgbClr val="F8F6F2"/>
                </a:solidFill>
                <a:latin typeface="Helvetica Neue"/>
              </a:rPr>
              <a:t>•  Humanoid robots dancing (Unitree, Spring Festival Gala).</a:t>
            </a:r>
          </a:p>
          <a:p>
            <a:pPr algn="l">
              <a:spcAft>
                <a:spcPts val="1000"/>
              </a:spcAft>
            </a:pPr>
            <a:r>
              <a:rPr sz="1300">
                <a:solidFill>
                  <a:srgbClr val="F8F6F2"/>
                </a:solidFill>
                <a:latin typeface="Helvetica Neue"/>
              </a:rPr>
              <a:t>•  An AI-generated song — ideally live, from her own prompt.</a:t>
            </a:r>
          </a:p>
          <a:p>
            <a:pPr algn="l">
              <a:spcAft>
                <a:spcPts val="1000"/>
              </a:spcAft>
            </a:pPr>
            <a:r>
              <a:rPr sz="1300">
                <a:solidFill>
                  <a:srgbClr val="F8F6F2"/>
                </a:solidFill>
                <a:latin typeface="Helvetica Neue"/>
              </a:rPr>
              <a:t>•  An AI-made image.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A8A39E"/>
                </a:solidFill>
                <a:latin typeface="Helvetica Neue"/>
              </a:rPr>
              <a:t>INTRO TO AI  ·  SESSION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9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6424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0" i="0">
                <a:solidFill>
                  <a:srgbClr val="F8F6F2"/>
                </a:solidFill>
                <a:latin typeface="Georgia"/>
              </a:rPr>
              <a:t>AI is mimicking us.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7680960" cy="4206240"/>
          </a:xfrm>
          <a:prstGeom prst="roundRect">
            <a:avLst>
              <a:gd name="adj" fmla="val 2500"/>
            </a:avLst>
          </a:prstGeom>
          <a:solidFill>
            <a:srgbClr val="2A2825"/>
          </a:solidFill>
          <a:ln w="19050">
            <a:solidFill>
              <a:srgbClr val="9B8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0" rIns="381000" tIns="254000" bIns="254000"/>
          <a:lstStyle/>
          <a:p>
            <a:pPr algn="ctr"/>
            <a:r>
              <a:rPr sz="6400">
                <a:solidFill>
                  <a:srgbClr val="9B8FE8"/>
                </a:solidFill>
                <a:latin typeface="Helvetica Neue"/>
              </a:rPr>
              <a:t>▶</a:t>
            </a:r>
          </a:p>
          <a:p>
            <a:pPr algn="ctr">
              <a:spcBef>
                <a:spcPts val="800"/>
              </a:spcBef>
            </a:pPr>
            <a:r>
              <a:rPr sz="2200">
                <a:solidFill>
                  <a:srgbClr val="F8F6F2"/>
                </a:solidFill>
                <a:latin typeface="Georgia"/>
              </a:rPr>
              <a:t>AlphaGo's move 37 vs Lee Sedol</a:t>
            </a:r>
          </a:p>
          <a:p>
            <a:pPr algn="ctr">
              <a:spcBef>
                <a:spcPts val="1200"/>
              </a:spcBef>
            </a:pPr>
            <a:r>
              <a:rPr sz="1200" i="1">
                <a:solidFill>
                  <a:srgbClr val="A8A39E"/>
                </a:solidFill>
                <a:latin typeface="Helvetica Neue"/>
              </a:rPr>
              <a:t>YouTube search: “AlphaGo move 37 Lee Sedol DeepMind documentary”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828800"/>
            <a:ext cx="3246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9B8FE8"/>
                </a:solidFill>
                <a:latin typeface="Helvetica Neue"/>
              </a:rPr>
              <a:t>WHERE IT HAS BEATEN THE BEST OF US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0" y="2240280"/>
            <a:ext cx="548640" cy="22860"/>
          </a:xfrm>
          <a:prstGeom prst="rect">
            <a:avLst/>
          </a:prstGeom>
          <a:solidFill>
            <a:srgbClr val="9B8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0" y="2423160"/>
            <a:ext cx="3246120" cy="3611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>
                <a:solidFill>
                  <a:srgbClr val="F8F6F2"/>
                </a:solidFill>
                <a:latin typeface="Helvetica Neue"/>
              </a:rPr>
              <a:t>•  Chess — Deep Blue beat Kasparov, 1997.</a:t>
            </a:r>
          </a:p>
          <a:p>
            <a:pPr algn="l">
              <a:spcAft>
                <a:spcPts val="1000"/>
              </a:spcAft>
            </a:pPr>
            <a:r>
              <a:rPr sz="1300">
                <a:solidFill>
                  <a:srgbClr val="F8F6F2"/>
                </a:solidFill>
                <a:latin typeface="Helvetica Neue"/>
              </a:rPr>
              <a:t>•  Go — AlphaGo beat Lee Sedol, 2016. Move 37: a move no human would play.</a:t>
            </a:r>
          </a:p>
          <a:p>
            <a:pPr algn="l">
              <a:spcAft>
                <a:spcPts val="1000"/>
              </a:spcAft>
            </a:pPr>
            <a:r>
              <a:rPr sz="1300">
                <a:solidFill>
                  <a:srgbClr val="F8F6F2"/>
                </a:solidFill>
                <a:latin typeface="Helvetica Neue"/>
              </a:rPr>
              <a:t>•  Math — silver→gold *standard* at the international math olympiad (2024 → 2025).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5532120"/>
            <a:ext cx="3246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A8A39E"/>
                </a:solidFill>
                <a:latin typeface="Helvetica Neue"/>
              </a:rPr>
              <a:t>'Gold-medal standard' — not an official contestant.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A8A39E"/>
                </a:solidFill>
                <a:latin typeface="Helvetica Neue"/>
              </a:rPr>
              <a:t>INTRO TO AI  ·  SESSION 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9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6424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0" i="0">
                <a:solidFill>
                  <a:srgbClr val="F8F6F2"/>
                </a:solidFill>
                <a:latin typeface="Georgia"/>
              </a:rPr>
              <a:t>What do you wish you didn't have to do?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5272887" cy="4206240"/>
          </a:xfrm>
          <a:prstGeom prst="roundRect">
            <a:avLst>
              <a:gd name="adj" fmla="val 3000"/>
            </a:avLst>
          </a:prstGeom>
          <a:solidFill>
            <a:srgbClr val="2A2825"/>
          </a:solidFill>
          <a:ln w="19050">
            <a:solidFill>
              <a:srgbClr val="D496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06400" rIns="406400"/>
          <a:lstStyle/>
          <a:p>
            <a:pPr algn="ctr"/>
            <a:r>
              <a:rPr sz="1100" b="1">
                <a:solidFill>
                  <a:srgbClr val="D49658"/>
                </a:solidFill>
                <a:latin typeface="Helvetica Neue"/>
              </a:rPr>
              <a:t>ASK — WRITE EACH ANSWER ON A CARD</a:t>
            </a:r>
          </a:p>
          <a:p>
            <a:pPr algn="ctr">
              <a:spcBef>
                <a:spcPts val="2000"/>
              </a:spcBef>
            </a:pPr>
            <a:r>
              <a:rPr sz="2600">
                <a:solidFill>
                  <a:srgbClr val="F8F6F2"/>
                </a:solidFill>
                <a:latin typeface="Georgia"/>
              </a:rPr>
              <a:t>“What's something
you HAVE to do
but wish you didn't?”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70167" y="1828800"/>
            <a:ext cx="5272887" cy="4206240"/>
          </a:xfrm>
          <a:prstGeom prst="roundRect">
            <a:avLst>
              <a:gd name="adj" fmla="val 3000"/>
            </a:avLst>
          </a:prstGeom>
          <a:solidFill>
            <a:srgbClr val="2A2825"/>
          </a:solidFill>
          <a:ln w="19050">
            <a:solidFill>
              <a:srgbClr val="9B8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06400" rIns="406400"/>
          <a:lstStyle/>
          <a:p>
            <a:pPr algn="ctr"/>
            <a:r>
              <a:rPr sz="1100" b="1">
                <a:solidFill>
                  <a:srgbClr val="9B8FE8"/>
                </a:solidFill>
                <a:latin typeface="Helvetica Neue"/>
              </a:rPr>
              <a:t>OPTIONAL FOLLOW-UP</a:t>
            </a:r>
          </a:p>
          <a:p>
            <a:pPr algn="ctr">
              <a:spcBef>
                <a:spcPts val="2000"/>
              </a:spcBef>
            </a:pPr>
            <a:r>
              <a:rPr sz="2600">
                <a:solidFill>
                  <a:srgbClr val="F8F6F2"/>
                </a:solidFill>
                <a:latin typeface="Georgia"/>
              </a:rPr>
              <a:t>“What's something
you WISH you could do
but can't?”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A8A39E"/>
                </a:solidFill>
                <a:latin typeface="Helvetica Neue"/>
              </a:rPr>
              <a:t>Keep the cards visible — they come back at Beat 6 (AI still can't do it) and the Journal wrap.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A8A39E"/>
                </a:solidFill>
                <a:latin typeface="Helvetica Neue"/>
              </a:rPr>
              <a:t>INTRO TO AI  ·  SESSION 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9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6424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0" i="0">
                <a:solidFill>
                  <a:srgbClr val="F8F6F2"/>
                </a:solidFill>
                <a:latin typeface="Georgia"/>
              </a:rPr>
              <a:t>Video calling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7680960" cy="4206240"/>
          </a:xfrm>
          <a:prstGeom prst="roundRect">
            <a:avLst>
              <a:gd name="adj" fmla="val 2500"/>
            </a:avLst>
          </a:prstGeom>
          <a:solidFill>
            <a:srgbClr val="2A2825"/>
          </a:solidFill>
          <a:ln w="19050">
            <a:solidFill>
              <a:srgbClr val="E8A0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0" rIns="381000" tIns="254000" bIns="254000"/>
          <a:lstStyle/>
          <a:p>
            <a:pPr algn="ctr"/>
            <a:r>
              <a:rPr sz="6400">
                <a:solidFill>
                  <a:srgbClr val="E8A062"/>
                </a:solidFill>
                <a:latin typeface="Helvetica Neue"/>
              </a:rPr>
              <a:t>▶</a:t>
            </a:r>
          </a:p>
          <a:p>
            <a:pPr algn="ctr">
              <a:spcBef>
                <a:spcPts val="800"/>
              </a:spcBef>
            </a:pPr>
            <a:r>
              <a:rPr sz="2200">
                <a:solidFill>
                  <a:srgbClr val="F8F6F2"/>
                </a:solidFill>
                <a:latin typeface="Georgia"/>
              </a:rPr>
              <a:t>The Jetsons (1962) — videophone scene</a:t>
            </a:r>
          </a:p>
          <a:p>
            <a:pPr algn="ctr">
              <a:spcBef>
                <a:spcPts val="1200"/>
              </a:spcBef>
            </a:pPr>
            <a:r>
              <a:rPr sz="1200" i="1">
                <a:solidFill>
                  <a:srgbClr val="A8A39E"/>
                </a:solidFill>
                <a:latin typeface="Helvetica Neue"/>
              </a:rPr>
              <a:t>YouTube search: “Jetsons 1962 videophone scene”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828800"/>
            <a:ext cx="3246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8A062"/>
                </a:solidFill>
                <a:latin typeface="Helvetica Neue"/>
              </a:rPr>
              <a:t>PROBLEM IT SOLVED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0" y="2240280"/>
            <a:ext cx="548640" cy="22860"/>
          </a:xfrm>
          <a:prstGeom prst="rect">
            <a:avLst/>
          </a:prstGeom>
          <a:solidFill>
            <a:srgbClr val="E8A0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0" y="2423160"/>
            <a:ext cx="3246120" cy="3611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>
                <a:solidFill>
                  <a:srgbClr val="F8F6F2"/>
                </a:solidFill>
                <a:latin typeface="Helvetica Neue"/>
              </a:rPr>
              <a:t>•  Seeing the face of someone far away while you talk.</a:t>
            </a:r>
          </a:p>
          <a:p>
            <a:pPr algn="l">
              <a:spcAft>
                <a:spcPts val="1000"/>
              </a:spcAft>
            </a:pPr>
            <a:r>
              <a:rPr sz="1300">
                <a:solidFill>
                  <a:srgbClr val="F8F6F2"/>
                </a:solidFill>
                <a:latin typeface="Helvetica Neue"/>
              </a:rPr>
              <a:t>•  1962: The Jetsons promised exactly this — wild future stuff.</a:t>
            </a:r>
          </a:p>
          <a:p>
            <a:pPr algn="l">
              <a:spcAft>
                <a:spcPts val="1000"/>
              </a:spcAft>
            </a:pPr>
            <a:r>
              <a:rPr sz="1300">
                <a:solidFill>
                  <a:srgbClr val="F8F6F2"/>
                </a:solidFill>
                <a:latin typeface="Helvetica Neue"/>
              </a:rPr>
              <a:t>•  Now: in her pocket every week.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A8A39E"/>
                </a:solidFill>
                <a:latin typeface="Helvetica Neue"/>
              </a:rPr>
              <a:t>INTRO TO AI  ·  SESSION 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9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6424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0" i="0">
                <a:solidFill>
                  <a:srgbClr val="F8F6F2"/>
                </a:solidFill>
                <a:latin typeface="Georgia"/>
              </a:rPr>
              <a:t>The telephone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7680960" cy="4206240"/>
          </a:xfrm>
          <a:prstGeom prst="roundRect">
            <a:avLst>
              <a:gd name="adj" fmla="val 2500"/>
            </a:avLst>
          </a:prstGeom>
          <a:solidFill>
            <a:srgbClr val="2A2825"/>
          </a:solidFill>
          <a:ln w="19050">
            <a:solidFill>
              <a:srgbClr val="E8A0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0" rIns="381000" tIns="254000" bIns="254000"/>
          <a:lstStyle/>
          <a:p>
            <a:pPr algn="ctr"/>
            <a:r>
              <a:rPr sz="6400">
                <a:solidFill>
                  <a:srgbClr val="E8A062"/>
                </a:solidFill>
                <a:latin typeface="Helvetica Neue"/>
              </a:rPr>
              <a:t>▶</a:t>
            </a:r>
          </a:p>
          <a:p>
            <a:pPr algn="ctr">
              <a:spcBef>
                <a:spcPts val="800"/>
              </a:spcBef>
            </a:pPr>
            <a:r>
              <a:rPr sz="2200">
                <a:solidFill>
                  <a:srgbClr val="F8F6F2"/>
                </a:solidFill>
                <a:latin typeface="Georgia"/>
              </a:rPr>
              <a:t>Bell's 1876 telephone / early exchange archival</a:t>
            </a:r>
          </a:p>
          <a:p>
            <a:pPr algn="ctr">
              <a:spcBef>
                <a:spcPts val="1200"/>
              </a:spcBef>
            </a:pPr>
            <a:r>
              <a:rPr sz="1200" i="1">
                <a:solidFill>
                  <a:srgbClr val="A8A39E"/>
                </a:solidFill>
                <a:latin typeface="Helvetica Neue"/>
              </a:rPr>
              <a:t>YouTube search: “Alexander Graham Bell telephone 1876 archival”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828800"/>
            <a:ext cx="3246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8A062"/>
                </a:solidFill>
                <a:latin typeface="Helvetica Neue"/>
              </a:rPr>
              <a:t>PROBLEM IT SOLVED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0" y="2240280"/>
            <a:ext cx="548640" cy="22860"/>
          </a:xfrm>
          <a:prstGeom prst="rect">
            <a:avLst/>
          </a:prstGeom>
          <a:solidFill>
            <a:srgbClr val="E8A0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0" y="2423160"/>
            <a:ext cx="3246120" cy="3611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>
                <a:solidFill>
                  <a:srgbClr val="F8F6F2"/>
                </a:solidFill>
                <a:latin typeface="Helvetica Neue"/>
              </a:rPr>
              <a:t>•  Talking to someone far away — without writing it down.</a:t>
            </a:r>
          </a:p>
          <a:p>
            <a:pPr algn="l">
              <a:spcAft>
                <a:spcPts val="1000"/>
              </a:spcAft>
            </a:pPr>
            <a:r>
              <a:rPr sz="1300">
                <a:solidFill>
                  <a:srgbClr val="F8F6F2"/>
                </a:solidFill>
                <a:latin typeface="Helvetica Neue"/>
              </a:rPr>
              <a:t>•  Bell, 1876.</a:t>
            </a:r>
          </a:p>
          <a:p>
            <a:pPr algn="l">
              <a:spcAft>
                <a:spcPts val="1000"/>
              </a:spcAft>
            </a:pPr>
            <a:r>
              <a:rPr sz="1300">
                <a:solidFill>
                  <a:srgbClr val="F8F6F2"/>
                </a:solidFill>
                <a:latin typeface="Helvetica Neue"/>
              </a:rPr>
              <a:t>•  Before: letters that took weeks. Or shouting across a room.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A8A39E"/>
                </a:solidFill>
                <a:latin typeface="Helvetica Neue"/>
              </a:rPr>
              <a:t>INTRO TO AI  ·  SESSION 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9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6424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0" i="0">
                <a:solidFill>
                  <a:srgbClr val="F8F6F2"/>
                </a:solidFill>
                <a:latin typeface="Georgia"/>
              </a:rPr>
              <a:t>Recorded music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7680960" cy="4206240"/>
          </a:xfrm>
          <a:prstGeom prst="roundRect">
            <a:avLst>
              <a:gd name="adj" fmla="val 2500"/>
            </a:avLst>
          </a:prstGeom>
          <a:solidFill>
            <a:srgbClr val="2A2825"/>
          </a:solidFill>
          <a:ln w="19050">
            <a:solidFill>
              <a:srgbClr val="E8A0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0" rIns="381000" tIns="254000" bIns="254000"/>
          <a:lstStyle/>
          <a:p>
            <a:pPr algn="ctr"/>
            <a:r>
              <a:rPr sz="6400">
                <a:solidFill>
                  <a:srgbClr val="E8A062"/>
                </a:solidFill>
                <a:latin typeface="Helvetica Neue"/>
              </a:rPr>
              <a:t>▶</a:t>
            </a:r>
          </a:p>
          <a:p>
            <a:pPr algn="ctr">
              <a:spcBef>
                <a:spcPts val="800"/>
              </a:spcBef>
            </a:pPr>
            <a:r>
              <a:rPr sz="2200">
                <a:solidFill>
                  <a:srgbClr val="F8F6F2"/>
                </a:solidFill>
                <a:latin typeface="Georgia"/>
              </a:rPr>
              <a:t>Edison phonograph / gramophone playing</a:t>
            </a:r>
          </a:p>
          <a:p>
            <a:pPr algn="ctr">
              <a:spcBef>
                <a:spcPts val="1200"/>
              </a:spcBef>
            </a:pPr>
            <a:r>
              <a:rPr sz="1200" i="1">
                <a:solidFill>
                  <a:srgbClr val="A8A39E"/>
                </a:solidFill>
                <a:latin typeface="Helvetica Neue"/>
              </a:rPr>
              <a:t>YouTube search: “Edison phonograph cylinder playing demonstration”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828800"/>
            <a:ext cx="3246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8A062"/>
                </a:solidFill>
                <a:latin typeface="Helvetica Neue"/>
              </a:rPr>
              <a:t>PROBLEM IT SOLVED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0" y="2240280"/>
            <a:ext cx="548640" cy="22860"/>
          </a:xfrm>
          <a:prstGeom prst="rect">
            <a:avLst/>
          </a:prstGeom>
          <a:solidFill>
            <a:srgbClr val="E8A0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0" y="2423160"/>
            <a:ext cx="3246120" cy="3611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>
                <a:solidFill>
                  <a:srgbClr val="F8F6F2"/>
                </a:solidFill>
                <a:latin typeface="Helvetica Neue"/>
              </a:rPr>
              <a:t>•  Hearing a sound after it's already happened.</a:t>
            </a:r>
          </a:p>
          <a:p>
            <a:pPr algn="l">
              <a:spcAft>
                <a:spcPts val="1000"/>
              </a:spcAft>
            </a:pPr>
            <a:r>
              <a:rPr sz="1300">
                <a:solidFill>
                  <a:srgbClr val="F8F6F2"/>
                </a:solidFill>
                <a:latin typeface="Helvetica Neue"/>
              </a:rPr>
              <a:t>•  Edison's phonograph, 1877.</a:t>
            </a:r>
          </a:p>
          <a:p>
            <a:pPr algn="l">
              <a:spcAft>
                <a:spcPts val="1000"/>
              </a:spcAft>
            </a:pPr>
            <a:r>
              <a:rPr sz="1300">
                <a:solidFill>
                  <a:srgbClr val="F8F6F2"/>
                </a:solidFill>
                <a:latin typeface="Helvetica Neue"/>
              </a:rPr>
              <a:t>•  Before: somebody had to play it again. Every time.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A8A39E"/>
                </a:solidFill>
                <a:latin typeface="Helvetica Neue"/>
              </a:rPr>
              <a:t>INTRO TO AI  ·  SESSION 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9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6424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0" i="0">
                <a:solidFill>
                  <a:srgbClr val="F8F6F2"/>
                </a:solidFill>
                <a:latin typeface="Georgia"/>
              </a:rPr>
              <a:t>The camera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7680960" cy="4206240"/>
          </a:xfrm>
          <a:prstGeom prst="roundRect">
            <a:avLst>
              <a:gd name="adj" fmla="val 2500"/>
            </a:avLst>
          </a:prstGeom>
          <a:solidFill>
            <a:srgbClr val="2A2825"/>
          </a:solidFill>
          <a:ln w="19050">
            <a:solidFill>
              <a:srgbClr val="E8A0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0" rIns="381000" tIns="254000" bIns="254000"/>
          <a:lstStyle/>
          <a:p>
            <a:pPr algn="ctr"/>
            <a:r>
              <a:rPr sz="6400">
                <a:solidFill>
                  <a:srgbClr val="E8A062"/>
                </a:solidFill>
                <a:latin typeface="Helvetica Neue"/>
              </a:rPr>
              <a:t>▶</a:t>
            </a:r>
          </a:p>
          <a:p>
            <a:pPr algn="ctr">
              <a:spcBef>
                <a:spcPts val="800"/>
              </a:spcBef>
            </a:pPr>
            <a:r>
              <a:rPr sz="2200">
                <a:solidFill>
                  <a:srgbClr val="F8F6F2"/>
                </a:solidFill>
                <a:latin typeface="Georgia"/>
              </a:rPr>
              <a:t>First photograph + early box camera</a:t>
            </a:r>
          </a:p>
          <a:p>
            <a:pPr algn="ctr">
              <a:spcBef>
                <a:spcPts val="1200"/>
              </a:spcBef>
            </a:pPr>
            <a:r>
              <a:rPr sz="1200" i="1">
                <a:solidFill>
                  <a:srgbClr val="A8A39E"/>
                </a:solidFill>
                <a:latin typeface="Helvetica Neue"/>
              </a:rPr>
              <a:t>YouTube search: “first photograph history Niepce Daguerre”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828800"/>
            <a:ext cx="3246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8A062"/>
                </a:solidFill>
                <a:latin typeface="Helvetica Neue"/>
              </a:rPr>
              <a:t>PROBLEM IT SOLVED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0" y="2240280"/>
            <a:ext cx="548640" cy="22860"/>
          </a:xfrm>
          <a:prstGeom prst="rect">
            <a:avLst/>
          </a:prstGeom>
          <a:solidFill>
            <a:srgbClr val="E8A0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0" y="2423160"/>
            <a:ext cx="3246120" cy="3611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>
                <a:solidFill>
                  <a:srgbClr val="F8F6F2"/>
                </a:solidFill>
                <a:latin typeface="Helvetica Neue"/>
              </a:rPr>
              <a:t>•  Keeping what you saw — without painting it.</a:t>
            </a:r>
          </a:p>
          <a:p>
            <a:pPr algn="l">
              <a:spcAft>
                <a:spcPts val="1000"/>
              </a:spcAft>
            </a:pPr>
            <a:r>
              <a:rPr sz="1300">
                <a:solidFill>
                  <a:srgbClr val="F8F6F2"/>
                </a:solidFill>
                <a:latin typeface="Helvetica Neue"/>
              </a:rPr>
              <a:t>•  Niépce, 1826. The first permanent photograph.</a:t>
            </a:r>
          </a:p>
          <a:p>
            <a:pPr algn="l">
              <a:spcAft>
                <a:spcPts val="1000"/>
              </a:spcAft>
            </a:pPr>
            <a:r>
              <a:rPr sz="1300">
                <a:solidFill>
                  <a:srgbClr val="F8F6F2"/>
                </a:solidFill>
                <a:latin typeface="Helvetica Neue"/>
              </a:rPr>
              <a:t>•  Before: you hired an artist.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A8A39E"/>
                </a:solidFill>
                <a:latin typeface="Helvetica Neue"/>
              </a:rPr>
              <a:t>INTRO TO AI  ·  SESSION 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9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6424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0" i="0">
                <a:solidFill>
                  <a:srgbClr val="F8F6F2"/>
                </a:solidFill>
                <a:latin typeface="Georgia"/>
              </a:rPr>
              <a:t>The printing press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7680960" cy="4206240"/>
          </a:xfrm>
          <a:prstGeom prst="roundRect">
            <a:avLst>
              <a:gd name="adj" fmla="val 2500"/>
            </a:avLst>
          </a:prstGeom>
          <a:solidFill>
            <a:srgbClr val="2A2825"/>
          </a:solidFill>
          <a:ln w="19050">
            <a:solidFill>
              <a:srgbClr val="E8A0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0" rIns="381000" tIns="254000" bIns="254000"/>
          <a:lstStyle/>
          <a:p>
            <a:pPr algn="ctr"/>
            <a:r>
              <a:rPr sz="6400">
                <a:solidFill>
                  <a:srgbClr val="E8A062"/>
                </a:solidFill>
                <a:latin typeface="Helvetica Neue"/>
              </a:rPr>
              <a:t>▶</a:t>
            </a:r>
          </a:p>
          <a:p>
            <a:pPr algn="ctr">
              <a:spcBef>
                <a:spcPts val="800"/>
              </a:spcBef>
            </a:pPr>
            <a:r>
              <a:rPr sz="2200">
                <a:solidFill>
                  <a:srgbClr val="F8F6F2"/>
                </a:solidFill>
                <a:latin typeface="Georgia"/>
              </a:rPr>
              <a:t>Working Gutenberg press demonstration</a:t>
            </a:r>
          </a:p>
          <a:p>
            <a:pPr algn="ctr">
              <a:spcBef>
                <a:spcPts val="1200"/>
              </a:spcBef>
            </a:pPr>
            <a:r>
              <a:rPr sz="1200" i="1">
                <a:solidFill>
                  <a:srgbClr val="A8A39E"/>
                </a:solidFill>
                <a:latin typeface="Helvetica Neue"/>
              </a:rPr>
              <a:t>YouTube search: “Gutenberg printing press demonstration how it works”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828800"/>
            <a:ext cx="3246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8A062"/>
                </a:solidFill>
                <a:latin typeface="Helvetica Neue"/>
              </a:rPr>
              <a:t>PROBLEM IT SOLVED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0" y="2240280"/>
            <a:ext cx="548640" cy="22860"/>
          </a:xfrm>
          <a:prstGeom prst="rect">
            <a:avLst/>
          </a:prstGeom>
          <a:solidFill>
            <a:srgbClr val="E8A0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0" y="2423160"/>
            <a:ext cx="3246120" cy="3611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>
                <a:solidFill>
                  <a:srgbClr val="F8F6F2"/>
                </a:solidFill>
                <a:latin typeface="Helvetica Neue"/>
              </a:rPr>
              <a:t>•  Copying a book — without a person writing it out by hand.</a:t>
            </a:r>
          </a:p>
          <a:p>
            <a:pPr algn="l">
              <a:spcAft>
                <a:spcPts val="1000"/>
              </a:spcAft>
            </a:pPr>
            <a:r>
              <a:rPr sz="1300">
                <a:solidFill>
                  <a:srgbClr val="F8F6F2"/>
                </a:solidFill>
                <a:latin typeface="Helvetica Neue"/>
              </a:rPr>
              <a:t>•  Gutenberg, ~1440.</a:t>
            </a:r>
          </a:p>
          <a:p>
            <a:pPr algn="l">
              <a:spcAft>
                <a:spcPts val="1000"/>
              </a:spcAft>
            </a:pPr>
            <a:r>
              <a:rPr sz="1300">
                <a:solidFill>
                  <a:srgbClr val="F8F6F2"/>
                </a:solidFill>
                <a:latin typeface="Helvetica Neue"/>
              </a:rPr>
              <a:t>•  Before: monks, months per copy.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A8A39E"/>
                </a:solidFill>
                <a:latin typeface="Helvetica Neue"/>
              </a:rPr>
              <a:t>INTRO TO AI  ·  SESSION 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9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6424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0" i="0">
                <a:solidFill>
                  <a:srgbClr val="F8F6F2"/>
                </a:solidFill>
                <a:latin typeface="Georgia"/>
              </a:rPr>
              <a:t>Writing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7680960" cy="4206240"/>
          </a:xfrm>
          <a:prstGeom prst="roundRect">
            <a:avLst>
              <a:gd name="adj" fmla="val 2500"/>
            </a:avLst>
          </a:prstGeom>
          <a:solidFill>
            <a:srgbClr val="2A2825"/>
          </a:solidFill>
          <a:ln w="19050">
            <a:solidFill>
              <a:srgbClr val="E8A0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0" rIns="381000" tIns="254000" bIns="254000"/>
          <a:lstStyle/>
          <a:p>
            <a:pPr algn="ctr"/>
            <a:r>
              <a:rPr sz="6400">
                <a:solidFill>
                  <a:srgbClr val="E8A062"/>
                </a:solidFill>
                <a:latin typeface="Helvetica Neue"/>
              </a:rPr>
              <a:t>▶</a:t>
            </a:r>
          </a:p>
          <a:p>
            <a:pPr algn="ctr">
              <a:spcBef>
                <a:spcPts val="800"/>
              </a:spcBef>
            </a:pPr>
            <a:r>
              <a:rPr sz="2200">
                <a:solidFill>
                  <a:srgbClr val="F8F6F2"/>
                </a:solidFill>
                <a:latin typeface="Georgia"/>
              </a:rPr>
              <a:t>Ancient cuneiform tablet / Egyptian hieroglyphs</a:t>
            </a:r>
          </a:p>
          <a:p>
            <a:pPr algn="ctr">
              <a:spcBef>
                <a:spcPts val="1200"/>
              </a:spcBef>
            </a:pPr>
            <a:r>
              <a:rPr sz="1200" i="1">
                <a:solidFill>
                  <a:srgbClr val="A8A39E"/>
                </a:solidFill>
                <a:latin typeface="Helvetica Neue"/>
              </a:rPr>
              <a:t>YouTube search: “ancient cuneiform clay tablet writing history”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828800"/>
            <a:ext cx="3246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8A062"/>
                </a:solidFill>
                <a:latin typeface="Helvetica Neue"/>
              </a:rPr>
              <a:t>PROBLEM IT SOLVED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0" y="2240280"/>
            <a:ext cx="548640" cy="22860"/>
          </a:xfrm>
          <a:prstGeom prst="rect">
            <a:avLst/>
          </a:prstGeom>
          <a:solidFill>
            <a:srgbClr val="E8A0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0" y="2423160"/>
            <a:ext cx="3246120" cy="3611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>
                <a:solidFill>
                  <a:srgbClr val="F8F6F2"/>
                </a:solidFill>
                <a:latin typeface="Helvetica Neue"/>
              </a:rPr>
              <a:t>•  Holding a thought outside your own head.</a:t>
            </a:r>
          </a:p>
          <a:p>
            <a:pPr algn="l">
              <a:spcAft>
                <a:spcPts val="1000"/>
              </a:spcAft>
            </a:pPr>
            <a:r>
              <a:rPr sz="1300">
                <a:solidFill>
                  <a:srgbClr val="F8F6F2"/>
                </a:solidFill>
                <a:latin typeface="Helvetica Neue"/>
              </a:rPr>
              <a:t>•  ~5000 years ago.</a:t>
            </a:r>
          </a:p>
          <a:p>
            <a:pPr algn="l">
              <a:spcAft>
                <a:spcPts val="1000"/>
              </a:spcAft>
            </a:pPr>
            <a:r>
              <a:rPr sz="1300">
                <a:solidFill>
                  <a:srgbClr val="F8F6F2"/>
                </a:solidFill>
                <a:latin typeface="Helvetica Neue"/>
              </a:rPr>
              <a:t>•  Before: forget it, lose it forever.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A8A39E"/>
                </a:solidFill>
                <a:latin typeface="Helvetica Neue"/>
              </a:rPr>
              <a:t>INTRO TO AI  ·  SESSION 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9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6424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0" i="0">
                <a:solidFill>
                  <a:srgbClr val="F8F6F2"/>
                </a:solidFill>
                <a:latin typeface="Georgia"/>
              </a:rPr>
              <a:t>Fire &amp; the first tools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7680960" cy="4206240"/>
          </a:xfrm>
          <a:prstGeom prst="roundRect">
            <a:avLst>
              <a:gd name="adj" fmla="val 2500"/>
            </a:avLst>
          </a:prstGeom>
          <a:solidFill>
            <a:srgbClr val="2A2825"/>
          </a:solidFill>
          <a:ln w="19050">
            <a:solidFill>
              <a:srgbClr val="E8A0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0" rIns="381000" tIns="254000" bIns="254000"/>
          <a:lstStyle/>
          <a:p>
            <a:pPr algn="ctr"/>
            <a:r>
              <a:rPr sz="6400">
                <a:solidFill>
                  <a:srgbClr val="E8A062"/>
                </a:solidFill>
                <a:latin typeface="Helvetica Neue"/>
              </a:rPr>
              <a:t>▶</a:t>
            </a:r>
          </a:p>
          <a:p>
            <a:pPr algn="ctr">
              <a:spcBef>
                <a:spcPts val="800"/>
              </a:spcBef>
            </a:pPr>
            <a:r>
              <a:rPr sz="2200">
                <a:solidFill>
                  <a:srgbClr val="F8F6F2"/>
                </a:solidFill>
                <a:latin typeface="Georgia"/>
              </a:rPr>
              <a:t>Cave painting + first fire / early humans</a:t>
            </a:r>
          </a:p>
          <a:p>
            <a:pPr algn="ctr">
              <a:spcBef>
                <a:spcPts val="1200"/>
              </a:spcBef>
            </a:pPr>
            <a:r>
              <a:rPr sz="1200" i="1">
                <a:solidFill>
                  <a:srgbClr val="A8A39E"/>
                </a:solidFill>
                <a:latin typeface="Helvetica Neue"/>
              </a:rPr>
              <a:t>YouTube search: “early humans fire cave painting documentary”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828800"/>
            <a:ext cx="3246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8A062"/>
                </a:solidFill>
                <a:latin typeface="Helvetica Neue"/>
              </a:rPr>
              <a:t>PROBLEM IT SOLVED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0" y="2240280"/>
            <a:ext cx="548640" cy="22860"/>
          </a:xfrm>
          <a:prstGeom prst="rect">
            <a:avLst/>
          </a:prstGeom>
          <a:solidFill>
            <a:srgbClr val="E8A0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0" y="2423160"/>
            <a:ext cx="3246120" cy="3611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>
                <a:solidFill>
                  <a:srgbClr val="F8F6F2"/>
                </a:solidFill>
                <a:latin typeface="Helvetica Neue"/>
              </a:rPr>
              <a:t>•  Making the world bend a little — to make life simpler.</a:t>
            </a:r>
          </a:p>
          <a:p>
            <a:pPr algn="l">
              <a:spcAft>
                <a:spcPts val="1000"/>
              </a:spcAft>
            </a:pPr>
            <a:r>
              <a:rPr sz="1300">
                <a:solidFill>
                  <a:srgbClr val="F8F6F2"/>
                </a:solidFill>
                <a:latin typeface="Helvetica Neue"/>
              </a:rPr>
              <a:t>•  The first technology, ever.</a:t>
            </a:r>
          </a:p>
          <a:p>
            <a:pPr algn="l">
              <a:spcAft>
                <a:spcPts val="1000"/>
              </a:spcAft>
            </a:pPr>
            <a:r>
              <a:rPr sz="1300">
                <a:solidFill>
                  <a:srgbClr val="F8F6F2"/>
                </a:solidFill>
                <a:latin typeface="Helvetica Neue"/>
              </a:rPr>
              <a:t>•  Cooked food → bigger brains. Warmth → winter. Light → night.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A8A39E"/>
                </a:solidFill>
                <a:latin typeface="Helvetica Neue"/>
              </a:rPr>
              <a:t>INTRO TO AI  ·  SESSION 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9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6424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0" i="0">
                <a:solidFill>
                  <a:srgbClr val="F8F6F2"/>
                </a:solidFill>
                <a:latin typeface="Georgia"/>
              </a:rPr>
              <a:t>The calculator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7680960" cy="4206240"/>
          </a:xfrm>
          <a:prstGeom prst="roundRect">
            <a:avLst>
              <a:gd name="adj" fmla="val 2500"/>
            </a:avLst>
          </a:prstGeom>
          <a:solidFill>
            <a:srgbClr val="2A2825"/>
          </a:solidFill>
          <a:ln w="19050">
            <a:solidFill>
              <a:srgbClr val="E8A0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0" rIns="381000" tIns="254000" bIns="254000"/>
          <a:lstStyle/>
          <a:p>
            <a:pPr algn="ctr"/>
            <a:r>
              <a:rPr sz="6400">
                <a:solidFill>
                  <a:srgbClr val="E8A062"/>
                </a:solidFill>
                <a:latin typeface="Helvetica Neue"/>
              </a:rPr>
              <a:t>▶</a:t>
            </a:r>
          </a:p>
          <a:p>
            <a:pPr algn="ctr">
              <a:spcBef>
                <a:spcPts val="800"/>
              </a:spcBef>
            </a:pPr>
            <a:r>
              <a:rPr sz="2200">
                <a:solidFill>
                  <a:srgbClr val="F8F6F2"/>
                </a:solidFill>
                <a:latin typeface="Georgia"/>
              </a:rPr>
              <a:t>Vintage mechanical + early electronic calculator demo</a:t>
            </a:r>
          </a:p>
          <a:p>
            <a:pPr algn="ctr">
              <a:spcBef>
                <a:spcPts val="1200"/>
              </a:spcBef>
            </a:pPr>
            <a:r>
              <a:rPr sz="1200" i="1">
                <a:solidFill>
                  <a:srgbClr val="A8A39E"/>
                </a:solidFill>
                <a:latin typeface="Helvetica Neue"/>
              </a:rPr>
              <a:t>YouTube search: “vintage mechanical calculator and early electronic calculator demo”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828800"/>
            <a:ext cx="3246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8A062"/>
                </a:solidFill>
                <a:latin typeface="Helvetica Neue"/>
              </a:rPr>
              <a:t>PROBLEM IT SOLVED  (WE'LL COME BACK)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0" y="2240280"/>
            <a:ext cx="548640" cy="22860"/>
          </a:xfrm>
          <a:prstGeom prst="rect">
            <a:avLst/>
          </a:prstGeom>
          <a:solidFill>
            <a:srgbClr val="E8A0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0" y="2423160"/>
            <a:ext cx="3246120" cy="3611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>
                <a:solidFill>
                  <a:srgbClr val="F8F6F2"/>
                </a:solidFill>
                <a:latin typeface="Helvetica Neue"/>
              </a:rPr>
              <a:t>•  Math by hand: slow, error-prone.</a:t>
            </a:r>
          </a:p>
          <a:p>
            <a:pPr algn="l">
              <a:spcAft>
                <a:spcPts val="1000"/>
              </a:spcAft>
            </a:pPr>
            <a:r>
              <a:rPr sz="1300">
                <a:solidFill>
                  <a:srgbClr val="F8F6F2"/>
                </a:solidFill>
                <a:latin typeface="Helvetica Neue"/>
              </a:rPr>
              <a:t>•  The most personal stop — Shreya is learning times tables right now.</a:t>
            </a:r>
          </a:p>
          <a:p>
            <a:pPr algn="l">
              <a:spcAft>
                <a:spcPts val="1000"/>
              </a:spcAft>
            </a:pPr>
            <a:r>
              <a:rPr sz="1300">
                <a:solidFill>
                  <a:srgbClr val="F8F6F2"/>
                </a:solidFill>
                <a:latin typeface="Helvetica Neue"/>
              </a:rPr>
              <a:t>•  Plant the seed: we still learn them anyway. Why?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A8A39E"/>
                </a:solidFill>
                <a:latin typeface="Helvetica Neue"/>
              </a:rPr>
              <a:t>INTRO TO AI  ·  SESSION 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9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6424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0" i="0">
                <a:solidFill>
                  <a:srgbClr val="F8F6F2"/>
                </a:solidFill>
                <a:latin typeface="Georgia"/>
              </a:rPr>
              <a:t>🐋  Talking to whales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7680960" cy="4206240"/>
          </a:xfrm>
          <a:prstGeom prst="roundRect">
            <a:avLst>
              <a:gd name="adj" fmla="val 2500"/>
            </a:avLst>
          </a:prstGeom>
          <a:solidFill>
            <a:srgbClr val="2A2825"/>
          </a:solidFill>
          <a:ln w="19050">
            <a:solidFill>
              <a:srgbClr val="5FC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0" rIns="381000" tIns="254000" bIns="254000"/>
          <a:lstStyle/>
          <a:p>
            <a:pPr algn="ctr"/>
            <a:r>
              <a:rPr sz="6400">
                <a:solidFill>
                  <a:srgbClr val="5FC8A0"/>
                </a:solidFill>
                <a:latin typeface="Helvetica Neue"/>
              </a:rPr>
              <a:t>▶</a:t>
            </a:r>
          </a:p>
          <a:p>
            <a:pPr algn="ctr">
              <a:spcBef>
                <a:spcPts val="800"/>
              </a:spcBef>
            </a:pPr>
            <a:r>
              <a:rPr sz="2200">
                <a:solidFill>
                  <a:srgbClr val="F8F6F2"/>
                </a:solidFill>
                <a:latin typeface="Georgia"/>
              </a:rPr>
              <a:t>Project CETI — sperm whale communication</a:t>
            </a:r>
          </a:p>
          <a:p>
            <a:pPr algn="ctr">
              <a:spcBef>
                <a:spcPts val="1200"/>
              </a:spcBef>
            </a:pPr>
            <a:r>
              <a:rPr sz="1200" i="1">
                <a:solidFill>
                  <a:srgbClr val="A8A39E"/>
                </a:solidFill>
                <a:latin typeface="Helvetica Neue"/>
              </a:rPr>
              <a:t>YouTube search: “Project CETI sperm whale communication AI”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828800"/>
            <a:ext cx="3246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5FC8A0"/>
                </a:solidFill>
                <a:latin typeface="Helvetica Neue"/>
              </a:rPr>
              <a:t>WHAT IT DOES — AND DOESN'T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0" y="2240280"/>
            <a:ext cx="548640" cy="22860"/>
          </a:xfrm>
          <a:prstGeom prst="rect">
            <a:avLst/>
          </a:prstGeom>
          <a:solidFill>
            <a:srgbClr val="5FC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0" y="2423160"/>
            <a:ext cx="3246120" cy="3611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>
                <a:solidFill>
                  <a:srgbClr val="F8F6F2"/>
                </a:solidFill>
                <a:latin typeface="Helvetica Neue"/>
              </a:rPr>
              <a:t>•  Decoding sperm whale clicks using AI.</a:t>
            </a:r>
          </a:p>
          <a:p>
            <a:pPr algn="l">
              <a:spcAft>
                <a:spcPts val="1000"/>
              </a:spcAft>
            </a:pPr>
            <a:r>
              <a:rPr sz="1300">
                <a:solidFill>
                  <a:srgbClr val="F8F6F2"/>
                </a:solidFill>
                <a:latin typeface="Helvetica Neue"/>
              </a:rPr>
              <a:t>•  Researchers BELIEVE they've found a 'phonetic alphabet.'</a:t>
            </a:r>
          </a:p>
          <a:p>
            <a:pPr algn="l">
              <a:spcAft>
                <a:spcPts val="1000"/>
              </a:spcAft>
            </a:pPr>
            <a:r>
              <a:rPr sz="1300">
                <a:solidFill>
                  <a:srgbClr val="F8F6F2"/>
                </a:solidFill>
                <a:latin typeface="Helvetica Neue"/>
              </a:rPr>
              <a:t>•  We can't talk to whales yet — we're BEGINNING to understand them.</a:t>
            </a:r>
          </a:p>
          <a:p>
            <a:pPr algn="l">
              <a:spcAft>
                <a:spcPts val="1000"/>
              </a:spcAft>
            </a:pPr>
            <a:r>
              <a:rPr sz="1300">
                <a:solidFill>
                  <a:srgbClr val="F8F6F2"/>
                </a:solidFill>
                <a:latin typeface="Helvetica Neue"/>
              </a:rPr>
              <a:t>•  Callback to Beat 2: if she wished she could 'talk to animals'…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5532120"/>
            <a:ext cx="3246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A8A39E"/>
                </a:solidFill>
                <a:latin typeface="Helvetica Neue"/>
              </a:rPr>
              <a:t>Sources: Project CETI; MIT CSAIL / Nature Comm (2024); Harvard SEAS (2025).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A8A39E"/>
                </a:solidFill>
                <a:latin typeface="Helvetica Neue"/>
              </a:rPr>
              <a:t>INTRO TO AI  ·  SESSION 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9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6424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0" i="0">
                <a:solidFill>
                  <a:srgbClr val="F8F6F2"/>
                </a:solidFill>
                <a:latin typeface="Georgia"/>
              </a:rPr>
              <a:t>👓  Helping a blind person see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7680960" cy="4206240"/>
          </a:xfrm>
          <a:prstGeom prst="roundRect">
            <a:avLst>
              <a:gd name="adj" fmla="val 2500"/>
            </a:avLst>
          </a:prstGeom>
          <a:solidFill>
            <a:srgbClr val="2A2825"/>
          </a:solidFill>
          <a:ln w="19050">
            <a:solidFill>
              <a:srgbClr val="5FC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0" rIns="381000" tIns="254000" bIns="254000"/>
          <a:lstStyle/>
          <a:p>
            <a:pPr algn="ctr"/>
            <a:r>
              <a:rPr sz="6400">
                <a:solidFill>
                  <a:srgbClr val="5FC8A0"/>
                </a:solidFill>
                <a:latin typeface="Helvetica Neue"/>
              </a:rPr>
              <a:t>▶</a:t>
            </a:r>
          </a:p>
          <a:p>
            <a:pPr algn="ctr">
              <a:spcBef>
                <a:spcPts val="800"/>
              </a:spcBef>
            </a:pPr>
            <a:r>
              <a:rPr sz="2200">
                <a:solidFill>
                  <a:srgbClr val="F8F6F2"/>
                </a:solidFill>
                <a:latin typeface="Georgia"/>
              </a:rPr>
              <a:t>Be My Eyes / Meta smart-glasses demo</a:t>
            </a:r>
          </a:p>
          <a:p>
            <a:pPr algn="ctr">
              <a:spcBef>
                <a:spcPts val="1200"/>
              </a:spcBef>
            </a:pPr>
            <a:r>
              <a:rPr sz="1200" i="1">
                <a:solidFill>
                  <a:srgbClr val="A8A39E"/>
                </a:solidFill>
                <a:latin typeface="Helvetica Neue"/>
              </a:rPr>
              <a:t>YouTube search: “Be My Eyes Meta smart glasses blind assistance demo”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828800"/>
            <a:ext cx="3246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5FC8A0"/>
                </a:solidFill>
                <a:latin typeface="Helvetica Neue"/>
              </a:rPr>
              <a:t>WHAT IT DOES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0" y="2240280"/>
            <a:ext cx="548640" cy="22860"/>
          </a:xfrm>
          <a:prstGeom prst="rect">
            <a:avLst/>
          </a:prstGeom>
          <a:solidFill>
            <a:srgbClr val="5FC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0" y="2423160"/>
            <a:ext cx="3246120" cy="3611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>
                <a:solidFill>
                  <a:srgbClr val="F8F6F2"/>
                </a:solidFill>
                <a:latin typeface="Helvetica Neue"/>
              </a:rPr>
              <a:t>•  AI glasses describe what's in front of you — out loud.</a:t>
            </a:r>
          </a:p>
          <a:p>
            <a:pPr algn="l">
              <a:spcAft>
                <a:spcPts val="1000"/>
              </a:spcAft>
            </a:pPr>
            <a:r>
              <a:rPr sz="1300">
                <a:solidFill>
                  <a:srgbClr val="F8F6F2"/>
                </a:solidFill>
                <a:latin typeface="Helvetica Neue"/>
              </a:rPr>
              <a:t>•  Reads menus, identifies objects and colors.</a:t>
            </a:r>
          </a:p>
          <a:p>
            <a:pPr algn="l">
              <a:spcAft>
                <a:spcPts val="1000"/>
              </a:spcAft>
            </a:pPr>
            <a:r>
              <a:rPr sz="1300">
                <a:solidFill>
                  <a:srgbClr val="F8F6F2"/>
                </a:solidFill>
                <a:latin typeface="Helvetica Neue"/>
              </a:rPr>
              <a:t>•  Or connects to a human helper who sees through the camera.</a:t>
            </a:r>
          </a:p>
          <a:p>
            <a:pPr algn="l">
              <a:spcAft>
                <a:spcPts val="1000"/>
              </a:spcAft>
            </a:pPr>
            <a:r>
              <a:rPr sz="1300">
                <a:solidFill>
                  <a:srgbClr val="F8F6F2"/>
                </a:solidFill>
                <a:latin typeface="Helvetica Neue"/>
              </a:rPr>
              <a:t>•  Still gets things wrong: noodles → 'lasagna'.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5532120"/>
            <a:ext cx="3246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A8A39E"/>
                </a:solidFill>
                <a:latin typeface="Helvetica Neue"/>
              </a:rPr>
              <a:t>Sources: Meta / Be My Eyes (2025); Consumer Reports; CBC.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A8A39E"/>
                </a:solidFill>
                <a:latin typeface="Helvetica Neue"/>
              </a:rPr>
              <a:t>INTRO TO AI  ·  SESSION 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9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6424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0" i="0">
                <a:solidFill>
                  <a:srgbClr val="F8F6F2"/>
                </a:solidFill>
                <a:latin typeface="Georgia"/>
              </a:rPr>
              <a:t>🤖  A robot helped do surgery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7680960" cy="4206240"/>
          </a:xfrm>
          <a:prstGeom prst="roundRect">
            <a:avLst>
              <a:gd name="adj" fmla="val 2500"/>
            </a:avLst>
          </a:prstGeom>
          <a:solidFill>
            <a:srgbClr val="2A2825"/>
          </a:solidFill>
          <a:ln w="19050">
            <a:solidFill>
              <a:srgbClr val="5FC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0" rIns="381000" tIns="254000" bIns="254000"/>
          <a:lstStyle/>
          <a:p>
            <a:pPr algn="ctr"/>
            <a:r>
              <a:rPr sz="6400">
                <a:solidFill>
                  <a:srgbClr val="5FC8A0"/>
                </a:solidFill>
                <a:latin typeface="Helvetica Neue"/>
              </a:rPr>
              <a:t>▶</a:t>
            </a:r>
          </a:p>
          <a:p>
            <a:pPr algn="ctr">
              <a:spcBef>
                <a:spcPts val="800"/>
              </a:spcBef>
            </a:pPr>
            <a:r>
              <a:rPr sz="2200">
                <a:solidFill>
                  <a:srgbClr val="F8F6F2"/>
                </a:solidFill>
                <a:latin typeface="Georgia"/>
              </a:rPr>
              <a:t>Johns Hopkins SRT-H — autonomous surgery robot</a:t>
            </a:r>
          </a:p>
          <a:p>
            <a:pPr algn="ctr">
              <a:spcBef>
                <a:spcPts val="1200"/>
              </a:spcBef>
            </a:pPr>
            <a:r>
              <a:rPr sz="1200" i="1">
                <a:solidFill>
                  <a:srgbClr val="A8A39E"/>
                </a:solidFill>
                <a:latin typeface="Helvetica Neue"/>
              </a:rPr>
              <a:t>YouTube search: “Johns Hopkins SRT-H autonomous surgery robot”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828800"/>
            <a:ext cx="3246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5FC8A0"/>
                </a:solidFill>
                <a:latin typeface="Helvetica Neue"/>
              </a:rPr>
              <a:t>WHAT IT DID — AND DIDN'T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0" y="2240280"/>
            <a:ext cx="548640" cy="22860"/>
          </a:xfrm>
          <a:prstGeom prst="rect">
            <a:avLst/>
          </a:prstGeom>
          <a:solidFill>
            <a:srgbClr val="5FC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0" y="2423160"/>
            <a:ext cx="3246120" cy="3611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>
                <a:solidFill>
                  <a:srgbClr val="F8F6F2"/>
                </a:solidFill>
                <a:latin typeface="Helvetica Neue"/>
              </a:rPr>
              <a:t>•  A robot learned by WATCHING surgeons.</a:t>
            </a:r>
          </a:p>
          <a:p>
            <a:pPr algn="l">
              <a:spcAft>
                <a:spcPts val="1000"/>
              </a:spcAft>
            </a:pPr>
            <a:r>
              <a:rPr sz="1300">
                <a:solidFill>
                  <a:srgbClr val="F8F6F2"/>
                </a:solidFill>
                <a:latin typeface="Helvetica Neue"/>
              </a:rPr>
              <a:t>•  Performed part of a gallbladder operation.</a:t>
            </a:r>
          </a:p>
          <a:p>
            <a:pPr algn="l">
              <a:spcAft>
                <a:spcPts val="1000"/>
              </a:spcAft>
            </a:pPr>
            <a:r>
              <a:rPr sz="1300">
                <a:solidFill>
                  <a:srgbClr val="F8F6F2"/>
                </a:solidFill>
                <a:latin typeface="Helvetica Neue"/>
              </a:rPr>
              <a:t>•  On a lifelike model — NOT a living person.</a:t>
            </a:r>
          </a:p>
          <a:p>
            <a:pPr algn="l">
              <a:spcAft>
                <a:spcPts val="1000"/>
              </a:spcAft>
            </a:pPr>
            <a:r>
              <a:rPr sz="1300">
                <a:solidFill>
                  <a:srgbClr val="F8F6F2"/>
                </a:solidFill>
                <a:latin typeface="Helvetica Neue"/>
              </a:rPr>
              <a:t>•  Frame it as helping doctors, not replacing them.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5532120"/>
            <a:ext cx="3246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A8A39E"/>
                </a:solidFill>
                <a:latin typeface="Helvetica Neue"/>
              </a:rPr>
              <a:t>Source: Johns Hopkins / Science Robotics, July 2025.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A8A39E"/>
                </a:solidFill>
                <a:latin typeface="Helvetica Neue"/>
              </a:rPr>
              <a:t>INTRO TO AI  ·  SESSION 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9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6424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0" i="0">
                <a:solidFill>
                  <a:srgbClr val="F8F6F2"/>
                </a:solidFill>
                <a:latin typeface="Georgia"/>
              </a:rPr>
              <a:t>Experiences can't be outsourced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7680960" cy="4206240"/>
          </a:xfrm>
          <a:prstGeom prst="roundRect">
            <a:avLst>
              <a:gd name="adj" fmla="val 2500"/>
            </a:avLst>
          </a:prstGeom>
          <a:solidFill>
            <a:srgbClr val="2A2825"/>
          </a:solidFill>
          <a:ln w="19050">
            <a:solidFill>
              <a:srgbClr val="9B8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0" rIns="381000" tIns="254000" bIns="254000"/>
          <a:lstStyle/>
          <a:p>
            <a:pPr algn="ctr"/>
            <a:r>
              <a:rPr sz="6400">
                <a:solidFill>
                  <a:srgbClr val="9B8FE8"/>
                </a:solidFill>
                <a:latin typeface="Helvetica Neue"/>
              </a:rPr>
              <a:t>▶</a:t>
            </a:r>
          </a:p>
          <a:p>
            <a:pPr algn="ctr">
              <a:spcBef>
                <a:spcPts val="800"/>
              </a:spcBef>
            </a:pPr>
            <a:r>
              <a:rPr sz="2200">
                <a:solidFill>
                  <a:srgbClr val="F8F6F2"/>
                </a:solidFill>
                <a:latin typeface="Georgia"/>
              </a:rPr>
              <a:t>Warm montage — dance, piano, swim, family meal</a:t>
            </a:r>
          </a:p>
          <a:p>
            <a:pPr algn="ctr">
              <a:spcBef>
                <a:spcPts val="1200"/>
              </a:spcBef>
            </a:pPr>
            <a:r>
              <a:rPr sz="1200" i="1">
                <a:solidFill>
                  <a:srgbClr val="A8A39E"/>
                </a:solidFill>
                <a:latin typeface="Helvetica Neue"/>
              </a:rPr>
              <a:t>YouTube search: “Bharatanatyam performance children short”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828800"/>
            <a:ext cx="3246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9B8FE8"/>
                </a:solidFill>
                <a:latin typeface="Helvetica Neue"/>
              </a:rPr>
              <a:t>AI CAN DESCRIBE — NEVER HAVE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0" y="2240280"/>
            <a:ext cx="548640" cy="22860"/>
          </a:xfrm>
          <a:prstGeom prst="rect">
            <a:avLst/>
          </a:prstGeom>
          <a:solidFill>
            <a:srgbClr val="9B8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0" y="2423160"/>
            <a:ext cx="3246120" cy="3611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>
                <a:solidFill>
                  <a:srgbClr val="F8F6F2"/>
                </a:solidFill>
                <a:latin typeface="Helvetica Neue"/>
              </a:rPr>
              <a:t>•  Goosebumps from a piece of music.</a:t>
            </a:r>
          </a:p>
          <a:p>
            <a:pPr algn="l">
              <a:spcAft>
                <a:spcPts val="1000"/>
              </a:spcAft>
            </a:pPr>
            <a:r>
              <a:rPr sz="1300">
                <a:solidFill>
                  <a:srgbClr val="F8F6F2"/>
                </a:solidFill>
                <a:latin typeface="Helvetica Neue"/>
              </a:rPr>
              <a:t>•  The first taste of something delicious.</a:t>
            </a:r>
          </a:p>
          <a:p>
            <a:pPr algn="l">
              <a:spcAft>
                <a:spcPts val="1000"/>
              </a:spcAft>
            </a:pPr>
            <a:r>
              <a:rPr sz="1300">
                <a:solidFill>
                  <a:srgbClr val="F8F6F2"/>
                </a:solidFill>
                <a:latin typeface="Helvetica Neue"/>
              </a:rPr>
              <a:t>•  Landing a hard Bharatanatyam step.</a:t>
            </a:r>
          </a:p>
          <a:p>
            <a:pPr algn="l">
              <a:spcAft>
                <a:spcPts val="1000"/>
              </a:spcAft>
            </a:pPr>
            <a:r>
              <a:rPr sz="1300">
                <a:solidFill>
                  <a:srgbClr val="F8F6F2"/>
                </a:solidFill>
                <a:latin typeface="Helvetica Neue"/>
              </a:rPr>
              <a:t>•  Winning a swim race after weeks of trying.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A8A39E"/>
                </a:solidFill>
                <a:latin typeface="Helvetica Neue"/>
              </a:rPr>
              <a:t>INTRO TO AI  ·  SESSION 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9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6424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0" i="0">
                <a:solidFill>
                  <a:srgbClr val="F8F6F2"/>
                </a:solidFill>
                <a:latin typeface="Georgia"/>
              </a:rPr>
              <a:t>Children are the great explorers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7680960" cy="4206240"/>
          </a:xfrm>
          <a:prstGeom prst="roundRect">
            <a:avLst>
              <a:gd name="adj" fmla="val 2500"/>
            </a:avLst>
          </a:prstGeom>
          <a:solidFill>
            <a:srgbClr val="2A2825"/>
          </a:solidFill>
          <a:ln w="19050">
            <a:solidFill>
              <a:srgbClr val="9B8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0" rIns="381000" tIns="254000" bIns="254000"/>
          <a:lstStyle/>
          <a:p>
            <a:pPr algn="ctr"/>
            <a:r>
              <a:rPr sz="6400">
                <a:solidFill>
                  <a:srgbClr val="9B8FE8"/>
                </a:solidFill>
                <a:latin typeface="Helvetica Neue"/>
              </a:rPr>
              <a:t>▶</a:t>
            </a:r>
          </a:p>
          <a:p>
            <a:pPr algn="ctr">
              <a:spcBef>
                <a:spcPts val="800"/>
              </a:spcBef>
            </a:pPr>
            <a:r>
              <a:rPr sz="2200">
                <a:solidFill>
                  <a:srgbClr val="F8F6F2"/>
                </a:solidFill>
                <a:latin typeface="Georgia"/>
              </a:rPr>
              <a:t>Alison Gopnik — children, learning, exploration</a:t>
            </a:r>
          </a:p>
          <a:p>
            <a:pPr algn="ctr">
              <a:spcBef>
                <a:spcPts val="1200"/>
              </a:spcBef>
            </a:pPr>
            <a:r>
              <a:rPr sz="1200" i="1">
                <a:solidFill>
                  <a:srgbClr val="A8A39E"/>
                </a:solidFill>
                <a:latin typeface="Helvetica Neue"/>
              </a:rPr>
              <a:t>YouTube search: “Alison Gopnik children learning exploration TED”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828800"/>
            <a:ext cx="3246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9B8FE8"/>
                </a:solidFill>
                <a:latin typeface="Helvetica Neue"/>
              </a:rPr>
              <a:t>WHY COPY US?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0" y="2240280"/>
            <a:ext cx="548640" cy="22860"/>
          </a:xfrm>
          <a:prstGeom prst="rect">
            <a:avLst/>
          </a:prstGeom>
          <a:solidFill>
            <a:srgbClr val="9B8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0" y="2423160"/>
            <a:ext cx="3246120" cy="3611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>
                <a:solidFill>
                  <a:srgbClr val="F8F6F2"/>
                </a:solidFill>
                <a:latin typeface="Helvetica Neue"/>
              </a:rPr>
              <a:t>•  Children are 'the best learning machines in the universe.' — Alison Gopnik</a:t>
            </a:r>
          </a:p>
          <a:p>
            <a:pPr algn="l">
              <a:spcAft>
                <a:spcPts val="1000"/>
              </a:spcAft>
            </a:pPr>
            <a:r>
              <a:rPr sz="1300">
                <a:solidFill>
                  <a:srgbClr val="F8F6F2"/>
                </a:solidFill>
                <a:latin typeface="Helvetica Neue"/>
              </a:rPr>
              <a:t>•  Kids EXPLORE (wild ideas, why? why? why?). Adults EXPLOIT (narrow focus).</a:t>
            </a:r>
          </a:p>
          <a:p>
            <a:pPr algn="l">
              <a:spcAft>
                <a:spcPts val="1000"/>
              </a:spcAft>
            </a:pPr>
            <a:r>
              <a:rPr sz="1300">
                <a:solidFill>
                  <a:srgbClr val="F8F6F2"/>
                </a:solidFill>
                <a:latin typeface="Helvetica Neue"/>
              </a:rPr>
              <a:t>•  Curiosity isn't a phase to grow out of — it's the superpower.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5532120"/>
            <a:ext cx="3246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A8A39E"/>
                </a:solidFill>
                <a:latin typeface="Helvetica Neue"/>
              </a:rPr>
              <a:t>Sources: Gopnik, 'The Philosophical Baby'; Science (2025).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A8A39E"/>
                </a:solidFill>
                <a:latin typeface="Helvetica Neue"/>
              </a:rPr>
              <a:t>INTRO TO AI  ·  SESSION 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9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6424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0" i="0">
                <a:solidFill>
                  <a:srgbClr val="F8F6F2"/>
                </a:solidFill>
                <a:latin typeface="Georgia"/>
              </a:rPr>
              <a:t>So… what IS intelligence?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11064240" cy="4206240"/>
          </a:xfrm>
          <a:prstGeom prst="roundRect">
            <a:avLst>
              <a:gd name="adj" fmla="val 3000"/>
            </a:avLst>
          </a:prstGeom>
          <a:solidFill>
            <a:srgbClr val="2A2825"/>
          </a:solidFill>
          <a:ln w="19050">
            <a:solidFill>
              <a:srgbClr val="9B8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9600" rIns="609600"/>
          <a:lstStyle/>
          <a:p>
            <a:pPr algn="ctr"/>
            <a:r>
              <a:rPr sz="3000">
                <a:solidFill>
                  <a:srgbClr val="F8F6F2"/>
                </a:solidFill>
                <a:latin typeface="Georgia"/>
              </a:rPr>
              <a:t>Collect answers from Shreya AND the parents.
Write them on cards. Leave it open.</a:t>
            </a:r>
          </a:p>
          <a:p>
            <a:pPr algn="ctr">
              <a:spcBef>
                <a:spcPts val="2200"/>
              </a:spcBef>
            </a:pPr>
            <a:r>
              <a:rPr sz="1700" i="1">
                <a:solidFill>
                  <a:srgbClr val="9B8FE8"/>
                </a:solidFill>
                <a:latin typeface="Helvetica Neue"/>
              </a:rPr>
              <a:t>Even the experts argue about this.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A8A39E"/>
                </a:solidFill>
                <a:latin typeface="Helvetica Neue"/>
              </a:rPr>
              <a:t>Leaving it unresolved is the design, not a gap.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A8A39E"/>
                </a:solidFill>
                <a:latin typeface="Helvetica Neue"/>
              </a:rPr>
              <a:t>INTRO TO AI  ·  SESSION 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9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6424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0" i="0">
                <a:solidFill>
                  <a:srgbClr val="F8F6F2"/>
                </a:solidFill>
                <a:latin typeface="Georgia"/>
              </a:rPr>
              <a:t>The problems AI still CAN'T solve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7680960" cy="4206240"/>
          </a:xfrm>
          <a:prstGeom prst="roundRect">
            <a:avLst>
              <a:gd name="adj" fmla="val 2500"/>
            </a:avLst>
          </a:prstGeom>
          <a:solidFill>
            <a:srgbClr val="2A2825"/>
          </a:solidFill>
          <a:ln w="19050">
            <a:solidFill>
              <a:srgbClr val="5FC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0" rIns="381000" tIns="254000" bIns="254000"/>
          <a:lstStyle/>
          <a:p>
            <a:pPr algn="ctr"/>
            <a:r>
              <a:rPr sz="6400">
                <a:solidFill>
                  <a:srgbClr val="5FC8A0"/>
                </a:solidFill>
                <a:latin typeface="Helvetica Neue"/>
              </a:rPr>
              <a:t>▶</a:t>
            </a:r>
          </a:p>
          <a:p>
            <a:pPr algn="ctr">
              <a:spcBef>
                <a:spcPts val="800"/>
              </a:spcBef>
            </a:pPr>
            <a:r>
              <a:rPr sz="2200">
                <a:solidFill>
                  <a:srgbClr val="F8F6F2"/>
                </a:solidFill>
                <a:latin typeface="Georgia"/>
              </a:rPr>
              <a:t>Home robot fumbling laundry — fail reel</a:t>
            </a:r>
          </a:p>
          <a:p>
            <a:pPr algn="ctr">
              <a:spcBef>
                <a:spcPts val="1200"/>
              </a:spcBef>
            </a:pPr>
            <a:r>
              <a:rPr sz="1200" i="1">
                <a:solidFill>
                  <a:srgbClr val="A8A39E"/>
                </a:solidFill>
                <a:latin typeface="Helvetica Neue"/>
              </a:rPr>
              <a:t>YouTube search: “Weave Isaac laundry robot folding 2026”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828800"/>
            <a:ext cx="3246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5FC8A0"/>
                </a:solidFill>
                <a:latin typeface="Helvetica Neue"/>
              </a:rPr>
              <a:t>WHAT AI STILL CAN'T DO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0" y="2240280"/>
            <a:ext cx="548640" cy="22860"/>
          </a:xfrm>
          <a:prstGeom prst="rect">
            <a:avLst/>
          </a:prstGeom>
          <a:solidFill>
            <a:srgbClr val="5FC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0" y="2423160"/>
            <a:ext cx="3246120" cy="3611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>
                <a:solidFill>
                  <a:srgbClr val="F8F6F2"/>
                </a:solidFill>
                <a:latin typeface="Helvetica Neue"/>
              </a:rPr>
              <a:t>•  Fold laundry reliably (Weave Isaac 0, ~$8K — still needs human help).</a:t>
            </a:r>
          </a:p>
          <a:p>
            <a:pPr algn="l">
              <a:spcAft>
                <a:spcPts val="1000"/>
              </a:spcAft>
            </a:pPr>
            <a:r>
              <a:rPr sz="1300">
                <a:solidFill>
                  <a:srgbClr val="F8F6F2"/>
                </a:solidFill>
                <a:latin typeface="Helvetica Neue"/>
              </a:rPr>
              <a:t>•  Common sense about the physical world.</a:t>
            </a:r>
          </a:p>
          <a:p>
            <a:pPr algn="l">
              <a:spcAft>
                <a:spcPts val="1000"/>
              </a:spcAft>
            </a:pPr>
            <a:r>
              <a:rPr sz="1300">
                <a:solidFill>
                  <a:srgbClr val="F8F6F2"/>
                </a:solidFill>
                <a:latin typeface="Helvetica Neue"/>
              </a:rPr>
              <a:t>•  Know what anything FEELS like.</a:t>
            </a:r>
          </a:p>
          <a:p>
            <a:pPr algn="l">
              <a:spcAft>
                <a:spcPts val="1000"/>
              </a:spcAft>
            </a:pPr>
            <a:r>
              <a:rPr sz="1300">
                <a:solidFill>
                  <a:srgbClr val="F8F6F2"/>
                </a:solidFill>
                <a:latin typeface="Helvetica Neue"/>
              </a:rPr>
              <a:t>•  Remember your wishes from Beat 2? Those problems are YOURS.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5532120"/>
            <a:ext cx="3246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A8A39E"/>
                </a:solidFill>
                <a:latin typeface="Helvetica Neue"/>
              </a:rPr>
              <a:t>LeCun–Malik–Dupoux (2026); Ganguli, Daedalus (2026).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A8A39E"/>
                </a:solidFill>
                <a:latin typeface="Helvetica Neue"/>
              </a:rPr>
              <a:t>INTRO TO AI  ·  SESSION 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9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6424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0" i="0">
                <a:solidFill>
                  <a:srgbClr val="F8F6F2"/>
                </a:solidFill>
                <a:latin typeface="Georgia"/>
              </a:rPr>
              <a:t>So… why bother learning anything?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11064240" cy="2377440"/>
          </a:xfrm>
          <a:prstGeom prst="roundRect">
            <a:avLst>
              <a:gd name="adj" fmla="val 4000"/>
            </a:avLst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0" rIns="508000"/>
          <a:lstStyle/>
          <a:p>
            <a:pPr algn="ctr"/>
            <a:r>
              <a:rPr sz="4400">
                <a:solidFill>
                  <a:srgbClr val="1A1917"/>
                </a:solidFill>
                <a:latin typeface="Georgia"/>
              </a:rPr>
              <a:t>If AI can do so much…
why bother learning anything?</a:t>
            </a:r>
          </a:p>
          <a:p>
            <a:pPr algn="ctr">
              <a:spcBef>
                <a:spcPts val="1400"/>
              </a:spcBef>
            </a:pPr>
            <a:r>
              <a:rPr sz="1400" i="1">
                <a:solidFill>
                  <a:srgbClr val="55524E"/>
                </a:solidFill>
                <a:latin typeface="Helvetica Neue"/>
              </a:rPr>
              <a:t>Don't answer. 13 weeks. On demo day — YOU tell US.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4206240"/>
            <a:ext cx="5272887" cy="1920240"/>
          </a:xfrm>
          <a:prstGeom prst="roundRect">
            <a:avLst>
              <a:gd name="adj" fmla="val 4000"/>
            </a:avLst>
          </a:prstGeom>
          <a:solidFill>
            <a:srgbClr val="2A2825"/>
          </a:solidFill>
          <a:ln w="19050">
            <a:solidFill>
              <a:srgbClr val="7BA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9400" rIns="279400"/>
          <a:lstStyle/>
          <a:p>
            <a:pPr algn="ctr"/>
            <a:r>
              <a:rPr sz="1000" b="1">
                <a:solidFill>
                  <a:srgbClr val="7BA8E8"/>
                </a:solidFill>
                <a:latin typeface="Helvetica Neue"/>
              </a:rPr>
              <a:t>KEY #1 — CALCULATOR</a:t>
            </a:r>
          </a:p>
          <a:p>
            <a:pPr>
              <a:spcBef>
                <a:spcPts val="600"/>
              </a:spcBef>
            </a:pPr>
            <a:r>
              <a:rPr sz="1900">
                <a:solidFill>
                  <a:srgbClr val="F8F6F2"/>
                </a:solidFill>
                <a:latin typeface="Georgia"/>
              </a:rPr>
              <a:t>Why are you still learning times tables?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A8A39E"/>
                </a:solidFill>
                <a:latin typeface="Helvetica Neue"/>
              </a:rPr>
              <a:t>Because the knowledge becomes a tool INSIDE YOUR OWN HEAD.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70167" y="4206240"/>
            <a:ext cx="5272887" cy="1920240"/>
          </a:xfrm>
          <a:prstGeom prst="roundRect">
            <a:avLst>
              <a:gd name="adj" fmla="val 4000"/>
            </a:avLst>
          </a:prstGeom>
          <a:solidFill>
            <a:srgbClr val="2A2825"/>
          </a:solidFill>
          <a:ln w="19050">
            <a:solidFill>
              <a:srgbClr val="5FC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9400" rIns="279400"/>
          <a:lstStyle/>
          <a:p>
            <a:pPr algn="ctr"/>
            <a:r>
              <a:rPr sz="1000" b="1">
                <a:solidFill>
                  <a:srgbClr val="5FC8A0"/>
                </a:solidFill>
                <a:latin typeface="Helvetica Neue"/>
              </a:rPr>
              <a:t>KEY #2 — CAR &amp; EXERCISE</a:t>
            </a:r>
          </a:p>
          <a:p>
            <a:pPr>
              <a:spcBef>
                <a:spcPts val="600"/>
              </a:spcBef>
            </a:pPr>
            <a:r>
              <a:rPr sz="1900">
                <a:solidFill>
                  <a:srgbClr val="F8F6F2"/>
                </a:solidFill>
                <a:latin typeface="Georgia"/>
              </a:rPr>
              <a:t>We've had cars 100 years. Did we stop running?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A8A39E"/>
                </a:solidFill>
                <a:latin typeface="Helvetica Neue"/>
              </a:rPr>
              <a:t>No — moving your body is good for YOU. AI is the same for thinking.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A8A39E"/>
                </a:solidFill>
                <a:latin typeface="Helvetica Neue"/>
              </a:rPr>
              <a:t>INTRO TO AI  ·  SESSION 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9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6424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0" i="0">
                <a:solidFill>
                  <a:srgbClr val="F8F6F2"/>
                </a:solidFill>
                <a:latin typeface="Georgia"/>
              </a:rPr>
              <a:t>Three I'd automate.  Three should stay human.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5272887" cy="4206240"/>
          </a:xfrm>
          <a:prstGeom prst="roundRect">
            <a:avLst>
              <a:gd name="adj" fmla="val 3000"/>
            </a:avLst>
          </a:prstGeom>
          <a:solidFill>
            <a:srgbClr val="2A2825"/>
          </a:solidFill>
          <a:ln w="19050">
            <a:solidFill>
              <a:srgbClr val="5FC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55600"/>
          <a:lstStyle/>
          <a:p>
            <a:pPr algn="ctr"/>
            <a:r>
              <a:rPr sz="1200" b="1">
                <a:solidFill>
                  <a:srgbClr val="5FC8A0"/>
                </a:solidFill>
                <a:latin typeface="Helvetica Neue"/>
              </a:rPr>
              <a:t>AUTOMATE</a:t>
            </a:r>
          </a:p>
          <a:p>
            <a:pPr>
              <a:spcBef>
                <a:spcPts val="1600"/>
              </a:spcBef>
            </a:pPr>
            <a:r>
              <a:rPr sz="1700">
                <a:solidFill>
                  <a:srgbClr val="F8F6F2"/>
                </a:solidFill>
                <a:latin typeface="Helvetica Neue"/>
              </a:rPr>
              <a:t>1.  ___________________________</a:t>
            </a:r>
          </a:p>
          <a:p>
            <a:pPr>
              <a:spcBef>
                <a:spcPts val="1600"/>
              </a:spcBef>
            </a:pPr>
            <a:r>
              <a:rPr sz="1700">
                <a:solidFill>
                  <a:srgbClr val="F8F6F2"/>
                </a:solidFill>
                <a:latin typeface="Helvetica Neue"/>
              </a:rPr>
              <a:t>2.  ___________________________</a:t>
            </a:r>
          </a:p>
          <a:p>
            <a:pPr>
              <a:spcBef>
                <a:spcPts val="1600"/>
              </a:spcBef>
            </a:pPr>
            <a:r>
              <a:rPr sz="1700">
                <a:solidFill>
                  <a:srgbClr val="F8F6F2"/>
                </a:solidFill>
                <a:latin typeface="Helvetica Neue"/>
              </a:rPr>
              <a:t>3.  ___________________________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70167" y="1828800"/>
            <a:ext cx="5272887" cy="4206240"/>
          </a:xfrm>
          <a:prstGeom prst="roundRect">
            <a:avLst>
              <a:gd name="adj" fmla="val 3000"/>
            </a:avLst>
          </a:prstGeom>
          <a:solidFill>
            <a:srgbClr val="2A2825"/>
          </a:solidFill>
          <a:ln w="19050">
            <a:solidFill>
              <a:srgbClr val="9B8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55600"/>
          <a:lstStyle/>
          <a:p>
            <a:pPr algn="ctr"/>
            <a:r>
              <a:rPr sz="1200" b="1">
                <a:solidFill>
                  <a:srgbClr val="9B8FE8"/>
                </a:solidFill>
                <a:latin typeface="Helvetica Neue"/>
              </a:rPr>
              <a:t>KEEP HUMAN</a:t>
            </a:r>
          </a:p>
          <a:p>
            <a:pPr>
              <a:spcBef>
                <a:spcPts val="1600"/>
              </a:spcBef>
            </a:pPr>
            <a:r>
              <a:rPr sz="1700">
                <a:solidFill>
                  <a:srgbClr val="F8F6F2"/>
                </a:solidFill>
                <a:latin typeface="Helvetica Neue"/>
              </a:rPr>
              <a:t>1.  ___________________________</a:t>
            </a:r>
          </a:p>
          <a:p>
            <a:pPr>
              <a:spcBef>
                <a:spcPts val="1600"/>
              </a:spcBef>
            </a:pPr>
            <a:r>
              <a:rPr sz="1700">
                <a:solidFill>
                  <a:srgbClr val="F8F6F2"/>
                </a:solidFill>
                <a:latin typeface="Helvetica Neue"/>
              </a:rPr>
              <a:t>2.  ___________________________</a:t>
            </a:r>
          </a:p>
          <a:p>
            <a:pPr>
              <a:spcBef>
                <a:spcPts val="1600"/>
              </a:spcBef>
            </a:pPr>
            <a:r>
              <a:rPr sz="1700">
                <a:solidFill>
                  <a:srgbClr val="F8F6F2"/>
                </a:solidFill>
                <a:latin typeface="Helvetica Neue"/>
              </a:rPr>
              <a:t>3.  ___________________________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A8A39E"/>
                </a:solidFill>
                <a:latin typeface="Helvetica Neue"/>
              </a:rPr>
              <a:t>Her words. The automate column will echo Beat 2 cards. Photograph → Page 1 of the exhibition site.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A8A39E"/>
                </a:solidFill>
                <a:latin typeface="Helvetica Neue"/>
              </a:rPr>
              <a:t>INTRO TO AI  ·  SESSION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